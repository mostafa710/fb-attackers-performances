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66160" y="0"/>
            <a:ext cx="502920" cy="51435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8404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560320" cy="2560320"/>
          </a:xfrm>
          <a:prstGeom prst="ellipse">
            <a:avLst/>
          </a:prstGeom>
          <a:solidFill>
            <a:srgbClr val="1A472A">
              <a:alpha val="0"/>
            </a:srgbClr>
          </a:solidFill>
          <a:ln w="254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1600200"/>
            <a:ext cx="1554480" cy="1554480"/>
          </a:xfrm>
          <a:prstGeom prst="ellipse">
            <a:avLst/>
          </a:prstGeom>
          <a:solidFill>
            <a:srgbClr val="1A472A">
              <a:alpha val="0"/>
            </a:srgbClr>
          </a:solidFill>
          <a:ln w="19050">
            <a:solidFill>
              <a:srgbClr val="00C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Arial Black" pitchFamily="34" charset="0"/>
              </a:rPr>
              <a:t>TOP</a:t>
            </a:r>
          </a:p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Arial Black" pitchFamily="34" charset="0"/>
              </a:rPr>
              <a:t>5</a:t>
            </a:r>
          </a:p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Arial Black" pitchFamily="34" charset="0"/>
              </a:rPr>
              <a:t>Leagues 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926080" cy="4114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F1E"/>
                </a:solidFill>
              </a:rPr>
              <a:t>2017/18 – 2023/24  •  7 Seasons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5029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Exploration,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 &amp;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Project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Player Performance Intelligence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1005840" cy="96012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114800" y="325718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380582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Seasons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3154680"/>
            <a:ext cx="1005840" cy="96012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440680" y="325718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380582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154680"/>
            <a:ext cx="1005840" cy="96012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6629400" y="325718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Arial Black" pitchFamily="34" charset="0"/>
              </a:rPr>
              <a:t>18243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80582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Record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4526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AA"/>
                </a:solidFill>
              </a:rPr>
              <a:t>Marwan Tamer  |  Mostafa Mamdouh  |  Hagar Ghazi</a:t>
            </a:r>
            <a:endParaRPr lang="en-US" sz="140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62D7BD25-2065-A184-236E-9B6372474DA4}"/>
              </a:ext>
            </a:extLst>
          </p:cNvPr>
          <p:cNvSpPr/>
          <p:nvPr/>
        </p:nvSpPr>
        <p:spPr>
          <a:xfrm>
            <a:off x="8001000" y="3154680"/>
            <a:ext cx="1005840" cy="96012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1765F98E-1D44-C526-9266-27D1942F00F2}"/>
              </a:ext>
            </a:extLst>
          </p:cNvPr>
          <p:cNvSpPr/>
          <p:nvPr/>
        </p:nvSpPr>
        <p:spPr>
          <a:xfrm>
            <a:off x="7818120" y="325718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4983B137-6E37-B3F1-DD89-C8545D470027}"/>
              </a:ext>
            </a:extLst>
          </p:cNvPr>
          <p:cNvSpPr/>
          <p:nvPr/>
        </p:nvSpPr>
        <p:spPr>
          <a:xfrm>
            <a:off x="7818120" y="380582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Intelligence: 7 Seasons of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329184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Dataset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CSV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One per season (17/18 → 23/24)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4261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65 features per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62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Covering all aspects of player performance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32841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5 Leagues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Premier League, La Liga, Bundesliga, Serie A, Ligue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01421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Multi-dimensional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233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Attacking, defensive, passing, goalkeeping &amp;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234440"/>
            <a:ext cx="4114800" cy="658368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123444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2984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Shooting &amp; Scoring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xG, Goals, Shots on Target, Conversion Rates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993392"/>
            <a:ext cx="4114800" cy="658368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1993392"/>
            <a:ext cx="54864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2057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Passing &amp; Creativity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Pass %, Key Passes, Progressive Passes, Assists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752344"/>
            <a:ext cx="4114800" cy="658368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2752344"/>
            <a:ext cx="54864" cy="6583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Defending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Tackles, Interceptions, Clearances, Blocks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511296"/>
            <a:ext cx="4114800" cy="658368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3511296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35753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Goalkeeping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8313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Save %, Clean Sheets, Goals Against per 90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4270248"/>
            <a:ext cx="4114800" cy="658368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4270248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43342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Dribbling &amp; Carries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4590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Take-ons, Progressive Carries, Final 3rd Entries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463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66344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1: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Intelligence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Market Insights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3840480" cy="1463040"/>
          </a:xfrm>
          <a:prstGeom prst="rect">
            <a:avLst/>
          </a:prstGeom>
          <a:solidFill>
            <a:srgbClr val="0C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3840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819656"/>
            <a:ext cx="329184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196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Operational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98979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Shot-to-goal ratios by league show which leagues are more efficient at finishing chances versus those that rely on taking many shots</a:t>
            </a:r>
          </a:p>
        </p:txBody>
      </p:sp>
      <p:sp>
        <p:nvSpPr>
          <p:cNvPr id="11" name="Shape 9"/>
          <p:cNvSpPr/>
          <p:nvPr/>
        </p:nvSpPr>
        <p:spPr>
          <a:xfrm>
            <a:off x="4663440" y="1709928"/>
            <a:ext cx="4206240" cy="1463040"/>
          </a:xfrm>
          <a:prstGeom prst="rect">
            <a:avLst/>
          </a:prstGeom>
          <a:solidFill>
            <a:srgbClr val="0C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709928"/>
            <a:ext cx="420624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819656"/>
            <a:ext cx="329184" cy="2743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800600" y="18196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F1E"/>
                </a:solidFill>
              </a:rPr>
              <a:t>Q2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8013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Volume vs.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298979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Distinguishes between high  volume shooters and high-quality finishers to identify who truly delivers results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355848"/>
            <a:ext cx="2560320" cy="1463040"/>
          </a:xfrm>
          <a:prstGeom prst="rect">
            <a:avLst/>
          </a:prstGeom>
          <a:solidFill>
            <a:srgbClr val="0C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355848"/>
            <a:ext cx="25603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465576"/>
            <a:ext cx="329184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46557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Q3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447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 Trends (7 Years)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944899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Seasonal scoring &amp; assist trends reveal tactical evolution are leagues becoming more defensive or explosive?</a:t>
            </a:r>
          </a:p>
        </p:txBody>
      </p:sp>
      <p:sp>
        <p:nvSpPr>
          <p:cNvPr id="23" name="Shape 21"/>
          <p:cNvSpPr/>
          <p:nvPr/>
        </p:nvSpPr>
        <p:spPr>
          <a:xfrm>
            <a:off x="3383280" y="3355848"/>
            <a:ext cx="2834640" cy="1463040"/>
          </a:xfrm>
          <a:prstGeom prst="rect">
            <a:avLst/>
          </a:prstGeom>
          <a:solidFill>
            <a:srgbClr val="0C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3355848"/>
            <a:ext cx="28346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20440" y="3465576"/>
            <a:ext cx="329184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0440" y="346557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Q4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34472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Players Benchmarking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944899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Isolating elite scorers exposes the performance gap identifying high value players who outperform expectations</a:t>
            </a:r>
          </a:p>
        </p:txBody>
      </p:sp>
      <p:sp>
        <p:nvSpPr>
          <p:cNvPr id="29" name="Shape 27"/>
          <p:cNvSpPr/>
          <p:nvPr/>
        </p:nvSpPr>
        <p:spPr>
          <a:xfrm>
            <a:off x="6355080" y="3355848"/>
            <a:ext cx="2560320" cy="1463040"/>
          </a:xfrm>
          <a:prstGeom prst="rect">
            <a:avLst/>
          </a:prstGeom>
          <a:solidFill>
            <a:srgbClr val="0C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55080" y="3355848"/>
            <a:ext cx="256032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92240" y="3465576"/>
            <a:ext cx="329184" cy="2743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0" y="346557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F1E"/>
                </a:solidFill>
              </a:rPr>
              <a:t>Q5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3447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944899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A small cluster of top clubs accounts for a massive share of league goals proof of superior attacking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+ PLOTLY + 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2: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Analytics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AI Forecasting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069080" cy="1261872"/>
          </a:xfrm>
          <a:prstGeom prst="rect">
            <a:avLst/>
          </a:prstGeom>
          <a:solidFill>
            <a:srgbClr val="0B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64008" cy="1261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0352" y="2340864"/>
            <a:ext cx="3657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0F1E"/>
                </a:solidFill>
              </a:rPr>
              <a:t>Q1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Global Talent Sourcing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Maps the world's talent factories identifying which nations export the most elite players to top leagues to optimize scouting spend.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69080" cy="1261872"/>
          </a:xfrm>
          <a:prstGeom prst="rect">
            <a:avLst/>
          </a:prstGeom>
          <a:solidFill>
            <a:srgbClr val="0B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64008" cy="12618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28032" y="2340864"/>
            <a:ext cx="365760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2340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0F1E"/>
                </a:solidFill>
              </a:rPr>
              <a:t>Q2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4924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Strategic Environment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2677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Profiles each league's attacking vs. defensive identity, helping clubs match player styles to the right competitive environment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261872"/>
          </a:xfrm>
          <a:prstGeom prst="rect">
            <a:avLst/>
          </a:prstGeom>
          <a:solidFill>
            <a:srgbClr val="0B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64008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0352" y="3803904"/>
            <a:ext cx="36576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8039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0F1E"/>
                </a:solidFill>
              </a:rPr>
              <a:t>Q3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5156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Overperformers Vs Underperformers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73075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Highlights players who score more than expected, indicating strong finishing ability, versus those who underperform relative to their chances</a:t>
            </a:r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4069080" cy="1261872"/>
          </a:xfrm>
          <a:prstGeom prst="rect">
            <a:avLst/>
          </a:prstGeom>
          <a:solidFill>
            <a:srgbClr val="0B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64008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828032" y="3803904"/>
            <a:ext cx="365760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38039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0F1E"/>
                </a:solidFill>
              </a:rPr>
              <a:t>Q4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4924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Goal Forecasting (ML Model)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373075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An integrated Linear Regression ML model that predicts expected goals (xG) from player behavior turning historical data into future performance forecasts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229600" cy="301752"/>
          </a:xfrm>
          <a:prstGeom prst="rect">
            <a:avLst/>
          </a:prstGeom>
          <a:solidFill>
            <a:srgbClr val="14103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6817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4B5FD"/>
                </a:solidFill>
              </a:rPr>
              <a:t>🔮  Integrated ML Model: Predicts player goal contributions before they happen moving from past analysis to future forecasting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00C896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CSV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Files Analyzed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Features Engineered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ML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Model Integrated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206240" cy="91440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2062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League Efficiency Varies Significantly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962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Certain leagues reward high shot volume while others demand clinical precision  a direct reflection of tactical philosophy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206240" cy="91440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42062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Nationality Shapes Talent Pipelines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962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Specific countries consistently produce the highest concentration of top-tier players, validating targeted scouting investment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206240" cy="91440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206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Elite Players Create a Performance Gap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105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Top scorers don't just outperform average players they operate in a different statistical tier entirely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206240" cy="91440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206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Forecasting Reduces Investment Risk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4105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The ML model predicts expected goals with strong accuracy 90%, enabling data-driven transfer decisions before spending occurs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4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3474720" cy="658368"/>
          </a:xfrm>
          <a:prstGeom prst="rect">
            <a:avLst/>
          </a:prstGeom>
          <a:solidFill>
            <a:srgbClr val="0E332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21408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21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Marwan Tamer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474720" cy="658368"/>
          </a:xfrm>
          <a:prstGeom prst="rect">
            <a:avLst/>
          </a:prstGeom>
          <a:solidFill>
            <a:srgbClr val="0E332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Mostafa Mamdouh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3474720" cy="658368"/>
          </a:xfrm>
          <a:prstGeom prst="rect">
            <a:avLst/>
          </a:prstGeom>
          <a:solidFill>
            <a:srgbClr val="0E332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767328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F1E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767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Hagar Ghazi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896"/>
                </a:solidFill>
              </a:rPr>
              <a:t>TOOLS &amp; TECHNOLOGIES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43400" y="685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Stack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343400" y="1417320"/>
            <a:ext cx="4480560" cy="59436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43400" y="1417320"/>
            <a:ext cx="54864" cy="594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47218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1746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Data cleaning, preprocessing &amp; EDA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2121408"/>
            <a:ext cx="4480560" cy="59436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43400" y="2121408"/>
            <a:ext cx="54864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21762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 / NumPy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2450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Feature engineering across 65 columns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2825496"/>
            <a:ext cx="4480560" cy="59436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43400" y="2825496"/>
            <a:ext cx="54864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28803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Plotly + Dash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154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Interactive web dashboard + ML integration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3529584"/>
            <a:ext cx="4480560" cy="59436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43400" y="3529584"/>
            <a:ext cx="54864" cy="5943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35844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Business intelligence &amp; visual storytelling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43400" y="4233672"/>
            <a:ext cx="4480560" cy="594360"/>
          </a:xfrm>
          <a:prstGeom prst="rect">
            <a:avLst/>
          </a:prstGeom>
          <a:solidFill>
            <a:srgbClr val="111E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43400" y="4233672"/>
            <a:ext cx="54864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428853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Machine learning model for xG prediction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567</Words>
  <Application>Microsoft Office PowerPoint</Application>
  <PresentationFormat>On-screen Show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Data Exploration &amp; Visualization Project</dc:title>
  <dc:subject>PptxGenJS Presentation</dc:subject>
  <dc:creator>PptxGenJS</dc:creator>
  <cp:lastModifiedBy>Marwan Tamer</cp:lastModifiedBy>
  <cp:revision>3</cp:revision>
  <dcterms:created xsi:type="dcterms:W3CDTF">2026-04-07T03:36:32Z</dcterms:created>
  <dcterms:modified xsi:type="dcterms:W3CDTF">2026-04-07T04:18:18Z</dcterms:modified>
</cp:coreProperties>
</file>